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0" y="0"/>
            <a:ext cx="475488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389120" y="0"/>
            <a:ext cx="4754880" cy="5143500"/>
          </a:xfrm>
          <a:prstGeom prst="rect">
            <a:avLst/>
          </a:prstGeom>
          <a:solidFill>
            <a:srgbClr val="1A3A5C">
              <a:alpha val="6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5" name="Shape 2"/>
          <p:cNvSpPr/>
          <p:nvPr/>
        </p:nvSpPr>
        <p:spPr>
          <a:xfrm>
            <a:off x="109728" y="0"/>
            <a:ext cx="4279392" cy="51435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6" name="Shape 3"/>
          <p:cNvSpPr/>
          <p:nvPr/>
        </p:nvSpPr>
        <p:spPr>
          <a:xfrm>
            <a:off x="365760" y="274320"/>
            <a:ext cx="3657600" cy="457200"/>
          </a:xfrm>
          <a:prstGeom prst="rect">
            <a:avLst/>
          </a:prstGeom>
          <a:solidFill>
            <a:srgbClr val="1A9E9B"/>
          </a:solidFill>
          <a:ln/>
        </p:spPr>
      </p:sp>
      <p:sp>
        <p:nvSpPr>
          <p:cNvPr id="7" name="Text 4"/>
          <p:cNvSpPr/>
          <p:nvPr/>
        </p:nvSpPr>
        <p:spPr>
          <a:xfrm>
            <a:off x="365760" y="2743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Chleo Logistics GmbH  ·  Germany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65760" y="96012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Document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365760" y="283464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Dangerous Goods &amp;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Customs Clearance Compliance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65760" y="46634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Consulting Bootcamp — Week 7  |  Kinda Faisal  |  2026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663440" y="274320"/>
            <a:ext cx="2057400" cy="457200"/>
          </a:xfrm>
          <a:prstGeom prst="rect">
            <a:avLst/>
          </a:prstGeom>
          <a:solidFill>
            <a:srgbClr val="1E4A7A">
              <a:alpha val="80000"/>
            </a:srgbClr>
          </a:solidFill>
          <a:ln w="10160">
            <a:solidFill>
              <a:srgbClr val="2DD4B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63440" y="27432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🚛  Road freight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903720" y="274320"/>
            <a:ext cx="2057400" cy="457200"/>
          </a:xfrm>
          <a:prstGeom prst="rect">
            <a:avLst/>
          </a:prstGeom>
          <a:solidFill>
            <a:srgbClr val="1E4A7A">
              <a:alpha val="80000"/>
            </a:srgbClr>
          </a:solidFill>
          <a:ln w="10160">
            <a:solidFill>
              <a:srgbClr val="2DD4B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03720" y="27432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✈  Air cargo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663440" y="868680"/>
            <a:ext cx="2057400" cy="457200"/>
          </a:xfrm>
          <a:prstGeom prst="rect">
            <a:avLst/>
          </a:prstGeom>
          <a:solidFill>
            <a:srgbClr val="1E4A7A">
              <a:alpha val="80000"/>
            </a:srgbClr>
          </a:solidFill>
          <a:ln w="10160">
            <a:solidFill>
              <a:srgbClr val="2DD4B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663440" y="86868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🚢  Sea freight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903720" y="868680"/>
            <a:ext cx="2057400" cy="457200"/>
          </a:xfrm>
          <a:prstGeom prst="rect">
            <a:avLst/>
          </a:prstGeom>
          <a:solidFill>
            <a:srgbClr val="1E4A7A">
              <a:alpha val="80000"/>
            </a:srgbClr>
          </a:solidFill>
          <a:ln w="10160">
            <a:solidFill>
              <a:srgbClr val="2DD4B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903720" y="86868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Customs &amp; DG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— What Chleo Faces Daily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3840480" cy="3931920"/>
          </a:xfrm>
          <a:prstGeom prst="rect">
            <a:avLst/>
          </a:prstGeom>
          <a:solidFill>
            <a:srgbClr val="F0F4F8"/>
          </a:solidFill>
          <a:ln w="6350">
            <a:solidFill>
              <a:srgbClr val="F0F4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3840480" cy="64008"/>
          </a:xfrm>
          <a:prstGeom prst="rect">
            <a:avLst/>
          </a:prstGeom>
          <a:solidFill>
            <a:srgbClr val="1A9E9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601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9E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Profile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Medium freight forwarder — 50–200 employees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98424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Based in Germany — international shipments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551176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🚛  50–300 shipments per day to 10+ countries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118104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7 document types per shipment on average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685032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Daily exposure to ADR, IMDG, IATA, EU customs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89120" y="868680"/>
            <a:ext cx="210312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F0F4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89120" y="868680"/>
            <a:ext cx="2103120" cy="640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4" name="Text 12"/>
          <p:cNvSpPr/>
          <p:nvPr/>
        </p:nvSpPr>
        <p:spPr>
          <a:xfrm>
            <a:off x="4389120" y="100584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9–12 min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480560" y="160020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document manually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44s with AI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675120" y="868680"/>
            <a:ext cx="210312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F0F4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675120" y="868680"/>
            <a:ext cx="210312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0" y="100584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€50,000+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766560" y="160020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 fine per DG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violation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89120" y="2834640"/>
            <a:ext cx="210312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F0F4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389120" y="2834640"/>
            <a:ext cx="2103120" cy="64008"/>
          </a:xfrm>
          <a:prstGeom prst="rect">
            <a:avLst/>
          </a:prstGeom>
          <a:solidFill>
            <a:srgbClr val="1A9E9B"/>
          </a:solidFill>
          <a:ln/>
        </p:spPr>
      </p:sp>
      <p:sp>
        <p:nvSpPr>
          <p:cNvPr id="22" name="Text 20"/>
          <p:cNvSpPr/>
          <p:nvPr/>
        </p:nvSpPr>
        <p:spPr>
          <a:xfrm>
            <a:off x="4389120" y="297180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9E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5–10%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4480560" y="356616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error rate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compliance docs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675120" y="2834640"/>
            <a:ext cx="210312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F0F4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675120" y="2834640"/>
            <a:ext cx="2103120" cy="6400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6" name="Text 24"/>
          <p:cNvSpPr/>
          <p:nvPr/>
        </p:nvSpPr>
        <p:spPr>
          <a:xfrm>
            <a:off x="6675120" y="297180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60–70%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6766560" y="356616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staff time 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data entry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9E9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— How It All Connects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74320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F0F4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2743200" cy="6400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932688"/>
            <a:ext cx="502920" cy="153619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932688"/>
            <a:ext cx="502920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105156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146304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records · 7 doc types · generate_dataset.py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868680"/>
            <a:ext cx="274320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F0F4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868680"/>
            <a:ext cx="2743200" cy="64008"/>
          </a:xfrm>
          <a:prstGeom prst="rect">
            <a:avLst/>
          </a:prstGeom>
          <a:solidFill>
            <a:srgbClr val="1A9E9B"/>
          </a:solidFill>
          <a:ln/>
        </p:spPr>
      </p:sp>
      <p:sp>
        <p:nvSpPr>
          <p:cNvPr id="12" name="Shape 10"/>
          <p:cNvSpPr/>
          <p:nvPr/>
        </p:nvSpPr>
        <p:spPr>
          <a:xfrm>
            <a:off x="3200400" y="932688"/>
            <a:ext cx="502920" cy="1536192"/>
          </a:xfrm>
          <a:prstGeom prst="rect">
            <a:avLst/>
          </a:prstGeom>
          <a:solidFill>
            <a:srgbClr val="1A9E9B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932688"/>
            <a:ext cx="502920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794760" y="105156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94760" y="146304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· DG + Customs compliance tools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868680"/>
            <a:ext cx="274320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F0F4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868680"/>
            <a:ext cx="2743200" cy="64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Shape 16"/>
          <p:cNvSpPr/>
          <p:nvPr/>
        </p:nvSpPr>
        <p:spPr>
          <a:xfrm>
            <a:off x="6126480" y="932688"/>
            <a:ext cx="502920" cy="153619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0" y="932688"/>
            <a:ext cx="502920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720840" y="105156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720840" y="146304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decision traced · EU server · Transparent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2743200"/>
            <a:ext cx="274320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F0F4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2743200"/>
            <a:ext cx="274320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Shape 22"/>
          <p:cNvSpPr/>
          <p:nvPr/>
        </p:nvSpPr>
        <p:spPr>
          <a:xfrm>
            <a:off x="274320" y="2807208"/>
            <a:ext cx="502920" cy="15361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2807208"/>
            <a:ext cx="502920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68680" y="292608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Workflow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68680" y="333756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Midnight schedule + webhook trigger · Email alerts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0" y="2743200"/>
            <a:ext cx="274320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F0F4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0" y="2743200"/>
            <a:ext cx="2743200" cy="64008"/>
          </a:xfrm>
          <a:prstGeom prst="rect">
            <a:avLst/>
          </a:prstGeom>
          <a:solidFill>
            <a:srgbClr val="1A9E9B"/>
          </a:solidFill>
          <a:ln/>
        </p:spPr>
      </p:sp>
      <p:sp>
        <p:nvSpPr>
          <p:cNvPr id="30" name="Shape 28"/>
          <p:cNvSpPr/>
          <p:nvPr/>
        </p:nvSpPr>
        <p:spPr>
          <a:xfrm>
            <a:off x="3200400" y="2807208"/>
            <a:ext cx="502920" cy="1536192"/>
          </a:xfrm>
          <a:prstGeom prst="rect">
            <a:avLst/>
          </a:prstGeom>
          <a:solidFill>
            <a:srgbClr val="1A9E9B"/>
          </a:solidFill>
          <a:ln/>
        </p:spPr>
      </p:sp>
      <p:sp>
        <p:nvSpPr>
          <p:cNvPr id="31" name="Text 29"/>
          <p:cNvSpPr/>
          <p:nvPr/>
        </p:nvSpPr>
        <p:spPr>
          <a:xfrm>
            <a:off x="3200400" y="2807208"/>
            <a:ext cx="502920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3794760" y="292608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794760" y="333756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dashboards · Live KPIs · DG &amp; Customs views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26480" y="2743200"/>
            <a:ext cx="274320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F0F4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26480" y="2743200"/>
            <a:ext cx="2743200" cy="6400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6" name="Shape 34"/>
          <p:cNvSpPr/>
          <p:nvPr/>
        </p:nvSpPr>
        <p:spPr>
          <a:xfrm>
            <a:off x="6126480" y="2807208"/>
            <a:ext cx="502920" cy="153619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7" name="Text 35"/>
          <p:cNvSpPr/>
          <p:nvPr/>
        </p:nvSpPr>
        <p:spPr>
          <a:xfrm>
            <a:off x="6126480" y="2807208"/>
            <a:ext cx="502920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6720840" y="292608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main.py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720840" y="333756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— one command connects all 5 above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74320" y="251460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main.py triggers all components automatically  ▼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42" name="Text 40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main.py  →  runs all 6 components  →  saves results  →  triggers n8n  →  email sent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 — What We Built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F0F4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64008" cy="868680"/>
          </a:xfrm>
          <a:prstGeom prst="rect">
            <a:avLst/>
          </a:prstGeom>
          <a:solidFill>
            <a:srgbClr val="1A9E9B"/>
          </a:solidFill>
          <a:ln/>
        </p:spPr>
      </p:sp>
      <p:sp>
        <p:nvSpPr>
          <p:cNvPr id="6" name="Shape 4"/>
          <p:cNvSpPr/>
          <p:nvPr/>
        </p:nvSpPr>
        <p:spPr>
          <a:xfrm>
            <a:off x="338328" y="868680"/>
            <a:ext cx="640080" cy="868680"/>
          </a:xfrm>
          <a:prstGeom prst="rect">
            <a:avLst/>
          </a:prstGeom>
          <a:solidFill>
            <a:srgbClr val="1A9E9B"/>
          </a:solidFill>
          <a:ln/>
        </p:spPr>
      </p:sp>
      <p:sp>
        <p:nvSpPr>
          <p:cNvPr id="7" name="Text 5"/>
          <p:cNvSpPr/>
          <p:nvPr/>
        </p:nvSpPr>
        <p:spPr>
          <a:xfrm>
            <a:off x="338328" y="868680"/>
            <a:ext cx="640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94183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AI Agent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128016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DG declarations (ADR/IMDG/IATA) AND customs documents (UCC/CMR/EUR.1/HS codes) automatically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874520"/>
            <a:ext cx="85953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F0F4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874520"/>
            <a:ext cx="64008" cy="8686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2" name="Shape 10"/>
          <p:cNvSpPr/>
          <p:nvPr/>
        </p:nvSpPr>
        <p:spPr>
          <a:xfrm>
            <a:off x="338328" y="1874520"/>
            <a:ext cx="640080" cy="8686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" y="1874520"/>
            <a:ext cx="640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97280" y="194767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 Monitoring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228600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decision logged and traceable — Chleo can see exactly what was checked and why. Full transparency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880360"/>
            <a:ext cx="85953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F0F4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880360"/>
            <a:ext cx="64008" cy="868680"/>
          </a:xfrm>
          <a:prstGeom prst="rect">
            <a:avLst/>
          </a:prstGeom>
          <a:solidFill>
            <a:srgbClr val="1A9E9B"/>
          </a:solidFill>
          <a:ln/>
        </p:spPr>
      </p:sp>
      <p:sp>
        <p:nvSpPr>
          <p:cNvPr id="18" name="Shape 16"/>
          <p:cNvSpPr/>
          <p:nvPr/>
        </p:nvSpPr>
        <p:spPr>
          <a:xfrm>
            <a:off x="338328" y="2880360"/>
            <a:ext cx="640080" cy="868680"/>
          </a:xfrm>
          <a:prstGeom prst="rect">
            <a:avLst/>
          </a:prstGeom>
          <a:solidFill>
            <a:srgbClr val="1A9E9B"/>
          </a:solidFill>
          <a:ln/>
        </p:spPr>
      </p:sp>
      <p:sp>
        <p:nvSpPr>
          <p:cNvPr id="19" name="Text 17"/>
          <p:cNvSpPr/>
          <p:nvPr/>
        </p:nvSpPr>
        <p:spPr>
          <a:xfrm>
            <a:off x="338328" y="2880360"/>
            <a:ext cx="640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97280" y="295351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Automation Workflow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97280" y="329184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at midnight automatically, analyzes documents, sends email alert if compliance issues are found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3886200"/>
            <a:ext cx="85953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F0F4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886200"/>
            <a:ext cx="64008" cy="8686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4" name="Shape 22"/>
          <p:cNvSpPr/>
          <p:nvPr/>
        </p:nvSpPr>
        <p:spPr>
          <a:xfrm>
            <a:off x="338328" y="3886200"/>
            <a:ext cx="640080" cy="8686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5" name="Text 23"/>
          <p:cNvSpPr/>
          <p:nvPr/>
        </p:nvSpPr>
        <p:spPr>
          <a:xfrm>
            <a:off x="338328" y="3886200"/>
            <a:ext cx="640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097280" y="395935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Dashboard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97280" y="429768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dashboards: overview of all docs + dedicated customs clearance view with routes, processing times, KPIs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 — Tableau Cloud (Real Screenshot)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22960"/>
            <a:ext cx="5943600" cy="4023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0" y="822960"/>
            <a:ext cx="24688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F0F4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0" y="822960"/>
            <a:ext cx="64008" cy="868680"/>
          </a:xfrm>
          <a:prstGeom prst="rect">
            <a:avLst/>
          </a:prstGeom>
          <a:solidFill>
            <a:srgbClr val="1A9E9B"/>
          </a:solidFill>
          <a:ln/>
        </p:spPr>
      </p:sp>
      <p:sp>
        <p:nvSpPr>
          <p:cNvPr id="7" name="Text 4"/>
          <p:cNvSpPr/>
          <p:nvPr/>
        </p:nvSpPr>
        <p:spPr>
          <a:xfrm>
            <a:off x="6492240" y="8686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9E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492240" y="12801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400800" y="1828800"/>
            <a:ext cx="24688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F0F4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0" y="1828800"/>
            <a:ext cx="64008" cy="8686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1" name="Text 8"/>
          <p:cNvSpPr/>
          <p:nvPr/>
        </p:nvSpPr>
        <p:spPr>
          <a:xfrm>
            <a:off x="6492240" y="18745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90.7%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492240" y="228600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400800" y="2834640"/>
            <a:ext cx="24688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F0F4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400800" y="2834640"/>
            <a:ext cx="64008" cy="8686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2"/>
          <p:cNvSpPr/>
          <p:nvPr/>
        </p:nvSpPr>
        <p:spPr>
          <a:xfrm>
            <a:off x="6492240" y="28803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559s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6492240" y="329184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per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400800" y="3840480"/>
            <a:ext cx="24688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F0F4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400800" y="3840480"/>
            <a:ext cx="64008" cy="8686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6"/>
          <p:cNvSpPr/>
          <p:nvPr/>
        </p:nvSpPr>
        <p:spPr>
          <a:xfrm>
            <a:off x="6492240" y="38862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1.2%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6492240" y="429768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rate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5–10% avg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9E9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Transparency (LangSmith) + Automation (n8n)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8229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 — Every AI decision traced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188720"/>
            <a:ext cx="4114800" cy="2743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40233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green = zero errors · 0.5–3.5s per doc · Full audit trail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754880" y="8229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— Automated daily workflow</a:t>
            </a:r>
            <a:endParaRPr lang="en-US" sz="12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0"/>
            <a:ext cx="4114800" cy="2743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754880" y="40233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· Schedule + Webhook · Email alert on compliance issues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Evaluation — LLM-as-Judge Results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502920"/>
          </a:xfrm>
          <a:prstGeom prst="rect">
            <a:avLst/>
          </a:prstGeom>
          <a:solidFill>
            <a:srgbClr val="F3F0FF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AI (the judge) evaluates the quality of our AI's insights on 4 criteria: Relevance · Accuracy · Actionability · Clarity (scored 1–10)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201168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F0F4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463040"/>
            <a:ext cx="2011680" cy="64008"/>
          </a:xfrm>
          <a:prstGeom prst="rect">
            <a:avLst/>
          </a:prstGeom>
          <a:solidFill>
            <a:srgbClr val="1A9E9B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55448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9E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9.1/10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74320" y="22402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5146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directly address DG &amp; customs pain points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23160" y="1463040"/>
            <a:ext cx="201168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F0F4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23160" y="1463040"/>
            <a:ext cx="2011680" cy="6400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3" name="Text 11"/>
          <p:cNvSpPr/>
          <p:nvPr/>
        </p:nvSpPr>
        <p:spPr>
          <a:xfrm>
            <a:off x="2423160" y="155448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9.3/10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423160" y="22402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14600" y="25146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numbers backed by real dataset calculations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0" y="1463040"/>
            <a:ext cx="201168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F0F4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0" y="1463040"/>
            <a:ext cx="201168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0" y="155448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8.1/10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4572000" y="22402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Actionability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63440" y="25146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can act on most insights immediately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720840" y="1463040"/>
            <a:ext cx="201168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F0F4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20840" y="1463040"/>
            <a:ext cx="2011680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6720840" y="155448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8.9/10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6720840" y="22402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12280" y="25146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language, minimal jargon for non-technical CEO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3246120"/>
            <a:ext cx="41148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F0F4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57200" y="33375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Average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365760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8.7 / 10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457200" y="43434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insights evaluated by GPT-3.5-Turbo judge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3246120"/>
            <a:ext cx="42062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F0F4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846320" y="33375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46320" y="37033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 INS-003 Error Rate insight (9.5/10)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46320" y="400507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Weakest: INS-002 Confidence (8.0/10) — needs clearer CEO language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46320" y="43434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noted: LLM may score own outputs higher than human reviewers would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Investment, ROI &amp; Timeline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11480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F0F4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601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38404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904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Setup &amp; Data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286000" y="149047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0" y="149047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A9E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€1,000–€2,000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920240"/>
            <a:ext cx="3840480" cy="438912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9933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AI Agent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286000" y="199339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3–4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00400" y="199339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A9E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€1,500–€2,500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423160"/>
            <a:ext cx="38404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4963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Dashboard + n8n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286000" y="24963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5–6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00400" y="24963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A9E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€1,000–€2,000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926080"/>
            <a:ext cx="3840480" cy="438912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9992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4: Monitoring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286000" y="299923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7–8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00400" y="299923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A9E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€800–€1,500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429000"/>
            <a:ext cx="3840480" cy="438912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5021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UPFRONT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286000" y="35021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weeks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00400" y="35021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9E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€4,300–€8,000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" y="3931920"/>
            <a:ext cx="3840480" cy="438912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0050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running cost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286000" y="400507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200400" y="400507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A9E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€200–€500/mo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868680"/>
            <a:ext cx="201168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F0F4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868680"/>
            <a:ext cx="2011680" cy="64008"/>
          </a:xfrm>
          <a:prstGeom prst="rect">
            <a:avLst/>
          </a:prstGeom>
          <a:solidFill>
            <a:srgbClr val="1A9E9B"/>
          </a:solidFill>
          <a:ln/>
        </p:spPr>
      </p:sp>
      <p:sp>
        <p:nvSpPr>
          <p:cNvPr id="32" name="Text 30"/>
          <p:cNvSpPr/>
          <p:nvPr/>
        </p:nvSpPr>
        <p:spPr>
          <a:xfrm>
            <a:off x="4663440" y="9601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9E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83h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4754880" y="160020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per day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docs × 10 min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858000" y="868680"/>
            <a:ext cx="201168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F0F4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858000" y="868680"/>
            <a:ext cx="2011680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6" name="Text 34"/>
          <p:cNvSpPr/>
          <p:nvPr/>
        </p:nvSpPr>
        <p:spPr>
          <a:xfrm>
            <a:off x="6858000" y="9601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6949440" y="160020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reduction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→ 1.2%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663440" y="2834640"/>
            <a:ext cx="201168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F0F4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663440" y="2834640"/>
            <a:ext cx="2011680" cy="6400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40" name="Text 38"/>
          <p:cNvSpPr/>
          <p:nvPr/>
        </p:nvSpPr>
        <p:spPr>
          <a:xfrm>
            <a:off x="4663440" y="29260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€80K+</a:t>
            </a:r>
            <a:endParaRPr lang="en-US" sz="2800" dirty="0"/>
          </a:p>
        </p:txBody>
      </p:sp>
      <p:sp>
        <p:nvSpPr>
          <p:cNvPr id="41" name="Text 39"/>
          <p:cNvSpPr/>
          <p:nvPr/>
        </p:nvSpPr>
        <p:spPr>
          <a:xfrm>
            <a:off x="4754880" y="356616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staff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savings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858000" y="2834640"/>
            <a:ext cx="201168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F0F4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858000" y="2834640"/>
            <a:ext cx="201168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4" name="Text 42"/>
          <p:cNvSpPr/>
          <p:nvPr/>
        </p:nvSpPr>
        <p:spPr>
          <a:xfrm>
            <a:off x="6858000" y="29260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6mo</a:t>
            </a:r>
            <a:endParaRPr lang="en-US" sz="2800" dirty="0"/>
          </a:p>
        </p:txBody>
      </p:sp>
      <p:sp>
        <p:nvSpPr>
          <p:cNvPr id="45" name="Text 43"/>
          <p:cNvSpPr/>
          <p:nvPr/>
        </p:nvSpPr>
        <p:spPr>
          <a:xfrm>
            <a:off x="6949440" y="356616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return 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457200" cy="59436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4300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1161288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2 weeks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146304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the existing TMS, configure all document types and routes (DE→TR, DE→GB, DE→US, DE→CN)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84248"/>
            <a:ext cx="457200" cy="59436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984248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2002536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AI agent live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304288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agent processes real shipment documents with full LangSmith tracing for management transparency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825496"/>
            <a:ext cx="457200" cy="59436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825496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2843784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Full automation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3145536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daily compliance reports via n8n, Tableau dashboard connected to live data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666744"/>
            <a:ext cx="457200" cy="59436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666744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3685032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Scale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986784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Expands to all document types, predictive analytics, full integration with carrier and customs APIs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572000"/>
            <a:ext cx="8412480" cy="365760"/>
          </a:xfrm>
          <a:prstGeom prst="rect">
            <a:avLst/>
          </a:prstGeom>
          <a:solidFill>
            <a:srgbClr val="1A9E9B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5720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day without automation = 83 hours of staff time lost and ongoing compliance risk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A5C">
              <a:alpha val="5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5" name="Text 2"/>
          <p:cNvSpPr/>
          <p:nvPr/>
        </p:nvSpPr>
        <p:spPr>
          <a:xfrm>
            <a:off x="914400" y="548640"/>
            <a:ext cx="73152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600" dirty="0"/>
          </a:p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Listening</a:t>
            </a:r>
            <a:endParaRPr lang="en-US" sz="5600" dirty="0"/>
          </a:p>
        </p:txBody>
      </p:sp>
      <p:sp>
        <p:nvSpPr>
          <p:cNvPr id="6" name="Text 3"/>
          <p:cNvSpPr/>
          <p:nvPr/>
        </p:nvSpPr>
        <p:spPr>
          <a:xfrm>
            <a:off x="914400" y="2834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Document Automation — Dangerous Goods &amp; Customs Clearance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31520" y="3474720"/>
            <a:ext cx="1828800" cy="1097280"/>
          </a:xfrm>
          <a:prstGeom prst="rect">
            <a:avLst/>
          </a:prstGeom>
          <a:solidFill>
            <a:srgbClr val="1A3A5C">
              <a:alpha val="75000"/>
            </a:srgbClr>
          </a:solidFill>
          <a:ln w="10160">
            <a:solidFill>
              <a:srgbClr val="2DD4B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35478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31520" y="38404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 &amp; Customs Automation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743200" y="3474720"/>
            <a:ext cx="1828800" cy="1097280"/>
          </a:xfrm>
          <a:prstGeom prst="rect">
            <a:avLst/>
          </a:prstGeom>
          <a:solidFill>
            <a:srgbClr val="1A3A5C">
              <a:alpha val="75000"/>
            </a:srgbClr>
          </a:solidFill>
          <a:ln w="10160">
            <a:solidFill>
              <a:srgbClr val="2DD4B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43200" y="35478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743200" y="38404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/ Supply Chain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754880" y="3474720"/>
            <a:ext cx="1828800" cy="1097280"/>
          </a:xfrm>
          <a:prstGeom prst="rect">
            <a:avLst/>
          </a:prstGeom>
          <a:solidFill>
            <a:srgbClr val="1A3A5C">
              <a:alpha val="75000"/>
            </a:srgbClr>
          </a:solidFill>
          <a:ln w="10160">
            <a:solidFill>
              <a:srgbClr val="2DD4B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54880" y="35478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754880" y="38404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freight forwarder, DE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766560" y="3474720"/>
            <a:ext cx="1828800" cy="1097280"/>
          </a:xfrm>
          <a:prstGeom prst="rect">
            <a:avLst/>
          </a:prstGeom>
          <a:solidFill>
            <a:srgbClr val="1A3A5C">
              <a:alpha val="75000"/>
            </a:srgbClr>
          </a:solidFill>
          <a:ln w="10160">
            <a:solidFill>
              <a:srgbClr val="2DD4B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766560" y="35478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Bootcamp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766560" y="38404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Consulting — Week 7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9E9B"/>
          </a:solidFill>
          <a:ln/>
        </p:spPr>
      </p:sp>
      <p:sp>
        <p:nvSpPr>
          <p:cNvPr id="20" name="Text 1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Kinda Faisal  ·  AI Consulting Bootcamp  ·  2026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Document Automation — DG &amp; Customs Compliance</dc:title>
  <dc:subject>PptxGenJS Presentation</dc:subject>
  <dc:creator>PptxGenJS</dc:creator>
  <cp:lastModifiedBy>PptxGenJS</cp:lastModifiedBy>
  <cp:revision>1</cp:revision>
  <dcterms:created xsi:type="dcterms:W3CDTF">2026-03-22T23:32:58Z</dcterms:created>
  <dcterms:modified xsi:type="dcterms:W3CDTF">2026-03-22T23:32:58Z</dcterms:modified>
</cp:coreProperties>
</file>